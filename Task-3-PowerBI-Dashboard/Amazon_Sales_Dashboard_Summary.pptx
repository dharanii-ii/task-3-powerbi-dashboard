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Total Sales by Year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($M)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18.6</c:v>
                </c:pt>
                <c:pt idx="1">
                  <c:v>18.2</c:v>
                </c:pt>
                <c:pt idx="2">
                  <c:v>18.35</c:v>
                </c:pt>
                <c:pt idx="3">
                  <c:v>18.55</c:v>
                </c:pt>
                <c:pt idx="4">
                  <c:v>18.27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Total Quantity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FF9F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21</c:v>
                </c:pt>
                <c:pt idx="2">
                  <c:v>23</c:v>
                </c:pt>
                <c:pt idx="3">
                  <c:v>22</c:v>
                </c:pt>
                <c:pt idx="4">
                  <c:v>23</c:v>
                </c:pt>
                <c:pt idx="5">
                  <c:v>22</c:v>
                </c:pt>
                <c:pt idx="6">
                  <c:v>23</c:v>
                </c:pt>
                <c:pt idx="7">
                  <c:v>22</c:v>
                </c:pt>
                <c:pt idx="8">
                  <c:v>23</c:v>
                </c:pt>
                <c:pt idx="9">
                  <c:v>22</c:v>
                </c:pt>
                <c:pt idx="10">
                  <c:v>22</c:v>
                </c:pt>
                <c:pt idx="11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Estimated Profit Margin % by Year (≈29.81% average)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2EC4B6"/>
            </a:solidFill>
            <a:ln w="3810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29.9</c:v>
                </c:pt>
                <c:pt idx="1">
                  <c:v>29.6</c:v>
                </c:pt>
                <c:pt idx="2">
                  <c:v>29.75</c:v>
                </c:pt>
                <c:pt idx="3">
                  <c:v>29.9</c:v>
                </c:pt>
                <c:pt idx="4">
                  <c:v>29.5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Top 5 Products by Sales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Memory Card 128GB</c:v>
                  </c:pt>
                  <c:pt idx="1">
                    <c:v>LED Desk Lamp</c:v>
                  </c:pt>
                  <c:pt idx="2">
                    <c:v>Mechanical Keyboard</c:v>
                  </c:pt>
                  <c:pt idx="3">
                    <c:v>Electric Kettle</c:v>
                  </c:pt>
                  <c:pt idx="4">
                    <c:v>Smartwatch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1.94</c:v>
                </c:pt>
                <c:pt idx="1">
                  <c:v>1.92</c:v>
                </c:pt>
                <c:pt idx="2">
                  <c:v>1.91</c:v>
                </c:pt>
                <c:pt idx="3">
                  <c:v>1.91</c:v>
                </c:pt>
                <c:pt idx="4">
                  <c:v>1.9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Total Sales Share by Category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2EC4B6"/>
              </a:solidFill>
              <a:effectLst/>
            </c:spPr>
          </c:dPt>
          <c:dPt>
            <c:idx val="3"/>
            <c:bubble3D val="0"/>
            <c:spPr>
              <a:solidFill>
                <a:srgbClr val="FF9F1C"/>
              </a:solidFill>
              <a:effectLst/>
            </c:spPr>
          </c:dPt>
          <c:dPt>
            <c:idx val="4"/>
            <c:bubble3D val="0"/>
            <c:spPr>
              <a:solidFill>
                <a:srgbClr val="8FA3C2"/>
              </a:solidFill>
              <a:effectLst/>
            </c:spPr>
          </c:dPt>
          <c:dPt>
            <c:idx val="5"/>
            <c:bubble3D val="0"/>
            <c:spPr>
              <a:solidFill>
                <a:srgbClr val="5B6B7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Electronics</c:v>
                </c:pt>
                <c:pt idx="1">
                  <c:v>Sports &amp; Outdoors</c:v>
                </c:pt>
                <c:pt idx="2">
                  <c:v>Books</c:v>
                </c:pt>
                <c:pt idx="3">
                  <c:v>Toys &amp; Games</c:v>
                </c:pt>
                <c:pt idx="4">
                  <c:v>Home &amp; Kitchen</c:v>
                </c:pt>
                <c:pt idx="5">
                  <c:v>Clothing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16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Top Customers by Total Sales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FF9F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Pooja Kapoor</c:v>
                  </c:pt>
                  <c:pt idx="1">
                    <c:v>Vihaan Singh</c:v>
                  </c:pt>
                  <c:pt idx="2">
                    <c:v>Pooja Singh</c:v>
                  </c:pt>
                  <c:pt idx="3">
                    <c:v>Kabir Joshi</c:v>
                  </c:pt>
                  <c:pt idx="4">
                    <c:v>Aditya Gupta</c:v>
                  </c:pt>
                  <c:pt idx="5">
                    <c:v>Mohit Singh</c:v>
                  </c:pt>
                  <c:pt idx="6">
                    <c:v>Sunita Mehta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0.55</c:v>
                </c:pt>
                <c:pt idx="1">
                  <c:v>0.53</c:v>
                </c:pt>
                <c:pt idx="2">
                  <c:v>0.52</c:v>
                </c:pt>
                <c:pt idx="3">
                  <c:v>0.52</c:v>
                </c:pt>
                <c:pt idx="4">
                  <c:v>0.52</c:v>
                </c:pt>
                <c:pt idx="5">
                  <c:v>0.51</c:v>
                </c:pt>
                <c:pt idx="6">
                  <c:v>0.51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Total Sales by Country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United States</c:v>
                  </c:pt>
                  <c:pt idx="1">
                    <c:v>India</c:v>
                  </c:pt>
                  <c:pt idx="2">
                    <c:v>Canada</c:v>
                  </c:pt>
                  <c:pt idx="3">
                    <c:v>United Kingdom</c:v>
                  </c:pt>
                  <c:pt idx="4">
                    <c:v>Australia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14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4A"/>
                </a:solidFill>
                <a:latin typeface="Arial"/>
              </a:rPr>
              <a:t>Total Sales by State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FF9F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TX</c:v>
                  </c:pt>
                  <c:pt idx="1">
                    <c:v>CA</c:v>
                  </c:pt>
                  <c:pt idx="2">
                    <c:v>NC</c:v>
                  </c:pt>
                  <c:pt idx="3">
                    <c:v>WA</c:v>
                  </c:pt>
                  <c:pt idx="4">
                    <c:v>PA</c:v>
                  </c:pt>
                  <c:pt idx="5">
                    <c:v>CO</c:v>
                  </c:pt>
                  <c:pt idx="6">
                    <c:v>IL</c:v>
                  </c:pt>
                  <c:pt idx="7">
                    <c:v>OH</c:v>
                  </c:pt>
                  <c:pt idx="8">
                    <c:v>IN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</c:v>
                </c:pt>
                <c:pt idx="1">
                  <c:v>18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E3A5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0E3A5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2996" y="18288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74320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Sales Dashboard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36118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Performance Analysis  |  2020 – 2024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Business Stakeholders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F4F7F9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828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dashboard exists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2560320"/>
            <a:ext cx="6035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is designed for business stakeholders to quickly understand Amazon's sales performance.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consolidates orders, revenue, profit, and customer data into a single, easy-to-navigate view.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enables data-driven decisions across sales, marketing, inventory, and regional strategy.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interactive — stakeholders can filter and drill down by date, region, product, or customer.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98080" y="155448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1B2A4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011680"/>
            <a:ext cx="91440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0" y="31089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Perspectives.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7772400" y="4206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• Trends • Products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• Regions • Recommendations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&amp; Profit Dashboard  |  2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structure of the underlying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9659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19659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2020–2024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33756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19659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43K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12648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15400" y="173736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380" y="19659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15400" y="2606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915400" y="30632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Tracked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Dimensions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48640" y="429768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Electronics, Clothing, Books, Toys &amp; Games, Sports &amp; Outdoors, Home &amp; Kitchen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 Country, State, and City level detail (US, India, Canada, UK, Australia)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attributes: Order Status, Payment Method, Discount, Cancellations &amp; Returns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Profitability: Estimated Cost, Estimated Profit, and Profit Margin % per order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&amp; Profit Dashboard  |  3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from the Executive Overview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" y="20299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$91.83M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788920" y="182880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588" y="202996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8892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78892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0" y="182880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868" y="2029968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300K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502920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269480" y="182880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148" y="2029968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6948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43K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26948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509760" y="182880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2428" y="2029968"/>
            <a:ext cx="512064" cy="51206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0976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$27.37M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9509760" y="31546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Profit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Indicators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48640" y="45262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Profit Margin: 29.81%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Rate: 3.03%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mix is dominated by Delivered orders (74.63%)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sales country: United States, contributing the largest share of revenue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&amp; Profit Dashboard  |  4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Trends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yearly sales patterns (2020–2024)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64592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548640" y="4206240"/>
          <a:ext cx="111099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&amp; Profit Dashboard  |  5</a:t>
            </a:r>
            <a:endParaRPr lang="en-US" sz="900" dirty="0"/>
          </a:p>
        </p:txBody>
      </p:sp>
      <p:sp>
        <p:nvSpPr>
          <p:cNvPr id="8" name="Text 3"/>
          <p:cNvSpPr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products and categories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64592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&amp; Profit Dashboard  |  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and customer base size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45920"/>
            <a:ext cx="3977640" cy="4480560"/>
          </a:xfrm>
          <a:prstGeom prst="roundRect">
            <a:avLst>
              <a:gd name="adj" fmla="val 1839"/>
            </a:avLst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103120"/>
            <a:ext cx="777240" cy="777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63840" y="301752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43,000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7863840" y="3611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955280" y="42976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broadly distributed across the customer base, with the leading customers each contributing around half a million dollars in lifetime sales.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&amp; Profit Dashboard  |  7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distribution by country, state, and city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86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64592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9768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43000" y="42519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dominates overall sales, followed by India, Canada, the UK, and Australia.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(TX) and California (CA) lead at the state level, with several other states clustered near $5M.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sales are fairly even across major metros (Charlotte, Dallas, San Jose, Seattle, and more).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&amp; Profit Dashboard  |  8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0552"/>
            <a:ext cx="493776" cy="493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801368"/>
            <a:ext cx="4297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is the highest-performing category — prioritize it in merchandising and promotions.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55080" y="16916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30552"/>
            <a:ext cx="493776" cy="493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9480" y="1801368"/>
            <a:ext cx="4297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contributes the highest sales — sustain investment in this core market.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32918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30752"/>
            <a:ext cx="493776" cy="4937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401568"/>
            <a:ext cx="4297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on top products: Memory Card 128GB, LED Desk Lamp, and Mechanical Keyboard.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355080" y="32918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730752"/>
            <a:ext cx="493776" cy="4937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269480" y="3401568"/>
            <a:ext cx="4297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returned and cancelled orders closely to reduce revenue leakage.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48920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30952"/>
            <a:ext cx="493776" cy="4937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63040" y="5001768"/>
            <a:ext cx="4297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inventory planning for high-demand products to avoid stockouts.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355080" y="48920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330952"/>
            <a:ext cx="493776" cy="49377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269480" y="5001768"/>
            <a:ext cx="4297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3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actual cost data going forward for more accurate profit analysis.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&amp; Profit Dashboard  |  9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116403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E3A5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114800" cy="4114800"/>
          </a:xfrm>
          <a:prstGeom prst="ellipse">
            <a:avLst/>
          </a:prstGeom>
          <a:solidFill>
            <a:srgbClr val="0E3A5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645920" y="3017520"/>
            <a:ext cx="8897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brings together sales, profit, customer, product, and regional data into a single, interactive view — empowering stakeholders to make faster, evidence-based business decisions and identify growth opportunities with confidence.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Dashboard</dc:title>
  <dc:subject>PptxGenJS Presentation</dc:subject>
  <dc:creator>Amazon Sales Analysis</dc:creator>
  <cp:lastModifiedBy>Amazon Sales Analysis</cp:lastModifiedBy>
  <cp:revision>1</cp:revision>
  <dcterms:created xsi:type="dcterms:W3CDTF">2026-06-19T07:50:03Z</dcterms:created>
  <dcterms:modified xsi:type="dcterms:W3CDTF">2026-06-19T07:50:03Z</dcterms:modified>
</cp:coreProperties>
</file>